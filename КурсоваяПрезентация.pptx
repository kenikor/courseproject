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8B60"/>
    <a:srgbClr val="C7C096"/>
    <a:srgbClr val="99985A"/>
    <a:srgbClr val="552A0B"/>
    <a:srgbClr val="231610"/>
    <a:srgbClr val="C3B293"/>
    <a:srgbClr val="C7BF95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6BDFB2-2D4A-4DE5-96FB-4F0F6F33F706}" v="558" dt="2025-11-26T07:08:27.2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9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26.11.2025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7C09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Блок-схема: узел 22"/>
          <p:cNvSpPr/>
          <p:nvPr/>
        </p:nvSpPr>
        <p:spPr>
          <a:xfrm>
            <a:off x="4377792" y="6126696"/>
            <a:ext cx="3782217" cy="2491907"/>
          </a:xfrm>
          <a:custGeom>
            <a:avLst/>
            <a:gdLst>
              <a:gd name="connsiteX0" fmla="*/ 0 w 3438525"/>
              <a:gd name="connsiteY0" fmla="*/ 1245915 h 2491829"/>
              <a:gd name="connsiteX1" fmla="*/ 1719263 w 3438525"/>
              <a:gd name="connsiteY1" fmla="*/ 0 h 2491829"/>
              <a:gd name="connsiteX2" fmla="*/ 3438526 w 3438525"/>
              <a:gd name="connsiteY2" fmla="*/ 1245915 h 2491829"/>
              <a:gd name="connsiteX3" fmla="*/ 1719263 w 3438525"/>
              <a:gd name="connsiteY3" fmla="*/ 2491830 h 2491829"/>
              <a:gd name="connsiteX4" fmla="*/ 0 w 3438525"/>
              <a:gd name="connsiteY4" fmla="*/ 1245915 h 2491829"/>
              <a:gd name="connsiteX0" fmla="*/ 169747 w 3608273"/>
              <a:gd name="connsiteY0" fmla="*/ 1259099 h 2505014"/>
              <a:gd name="connsiteX1" fmla="*/ 257708 w 3608273"/>
              <a:gd name="connsiteY1" fmla="*/ 642812 h 2505014"/>
              <a:gd name="connsiteX2" fmla="*/ 1889010 w 3608273"/>
              <a:gd name="connsiteY2" fmla="*/ 13184 h 2505014"/>
              <a:gd name="connsiteX3" fmla="*/ 3608273 w 3608273"/>
              <a:gd name="connsiteY3" fmla="*/ 1259099 h 2505014"/>
              <a:gd name="connsiteX4" fmla="*/ 1889010 w 3608273"/>
              <a:gd name="connsiteY4" fmla="*/ 2505014 h 2505014"/>
              <a:gd name="connsiteX5" fmla="*/ 169747 w 3608273"/>
              <a:gd name="connsiteY5" fmla="*/ 1259099 h 2505014"/>
              <a:gd name="connsiteX0" fmla="*/ 169747 w 3782217"/>
              <a:gd name="connsiteY0" fmla="*/ 1245992 h 2491907"/>
              <a:gd name="connsiteX1" fmla="*/ 257708 w 3782217"/>
              <a:gd name="connsiteY1" fmla="*/ 629705 h 2491907"/>
              <a:gd name="connsiteX2" fmla="*/ 1889010 w 3782217"/>
              <a:gd name="connsiteY2" fmla="*/ 77 h 2491907"/>
              <a:gd name="connsiteX3" fmla="*/ 3547008 w 3782217"/>
              <a:gd name="connsiteY3" fmla="*/ 591604 h 2491907"/>
              <a:gd name="connsiteX4" fmla="*/ 3608273 w 3782217"/>
              <a:gd name="connsiteY4" fmla="*/ 1245992 h 2491907"/>
              <a:gd name="connsiteX5" fmla="*/ 1889010 w 3782217"/>
              <a:gd name="connsiteY5" fmla="*/ 2491907 h 2491907"/>
              <a:gd name="connsiteX6" fmla="*/ 169747 w 3782217"/>
              <a:gd name="connsiteY6" fmla="*/ 1245992 h 24919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782217" h="2491907">
                <a:moveTo>
                  <a:pt x="169747" y="1245992"/>
                </a:moveTo>
                <a:cubicBezTo>
                  <a:pt x="-102137" y="935625"/>
                  <a:pt x="-28836" y="837357"/>
                  <a:pt x="257708" y="629705"/>
                </a:cubicBezTo>
                <a:cubicBezTo>
                  <a:pt x="544252" y="422053"/>
                  <a:pt x="1340793" y="6427"/>
                  <a:pt x="1889010" y="77"/>
                </a:cubicBezTo>
                <a:cubicBezTo>
                  <a:pt x="2437227" y="-6273"/>
                  <a:pt x="3260464" y="383952"/>
                  <a:pt x="3547008" y="591604"/>
                </a:cubicBezTo>
                <a:cubicBezTo>
                  <a:pt x="3833552" y="799256"/>
                  <a:pt x="3863439" y="963142"/>
                  <a:pt x="3608273" y="1245992"/>
                </a:cubicBezTo>
                <a:cubicBezTo>
                  <a:pt x="3353107" y="1528842"/>
                  <a:pt x="2838533" y="2491907"/>
                  <a:pt x="1889010" y="2491907"/>
                </a:cubicBezTo>
                <a:cubicBezTo>
                  <a:pt x="939487" y="2491907"/>
                  <a:pt x="441631" y="1556359"/>
                  <a:pt x="169747" y="1245992"/>
                </a:cubicBezTo>
                <a:close/>
              </a:path>
            </a:pathLst>
          </a:custGeom>
          <a:solidFill>
            <a:srgbClr val="99985A"/>
          </a:solidFill>
          <a:ln>
            <a:solidFill>
              <a:srgbClr val="9998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 rot="996593">
            <a:off x="9459479" y="3673968"/>
            <a:ext cx="7699828" cy="5047979"/>
          </a:xfrm>
          <a:custGeom>
            <a:avLst/>
            <a:gdLst>
              <a:gd name="connsiteX0" fmla="*/ 0 w 8040821"/>
              <a:gd name="connsiteY0" fmla="*/ 2239933 h 4479866"/>
              <a:gd name="connsiteX1" fmla="*/ 4020411 w 8040821"/>
              <a:gd name="connsiteY1" fmla="*/ 0 h 4479866"/>
              <a:gd name="connsiteX2" fmla="*/ 8040822 w 8040821"/>
              <a:gd name="connsiteY2" fmla="*/ 2239933 h 4479866"/>
              <a:gd name="connsiteX3" fmla="*/ 4020411 w 8040821"/>
              <a:gd name="connsiteY3" fmla="*/ 4479866 h 4479866"/>
              <a:gd name="connsiteX4" fmla="*/ 0 w 8040821"/>
              <a:gd name="connsiteY4" fmla="*/ 2239933 h 4479866"/>
              <a:gd name="connsiteX0" fmla="*/ 294 w 8041116"/>
              <a:gd name="connsiteY0" fmla="*/ 2803387 h 5043320"/>
              <a:gd name="connsiteX1" fmla="*/ 3865880 w 8041116"/>
              <a:gd name="connsiteY1" fmla="*/ 0 h 5043320"/>
              <a:gd name="connsiteX2" fmla="*/ 8041116 w 8041116"/>
              <a:gd name="connsiteY2" fmla="*/ 2803387 h 5043320"/>
              <a:gd name="connsiteX3" fmla="*/ 4020705 w 8041116"/>
              <a:gd name="connsiteY3" fmla="*/ 5043320 h 5043320"/>
              <a:gd name="connsiteX4" fmla="*/ 294 w 8041116"/>
              <a:gd name="connsiteY4" fmla="*/ 2803387 h 5043320"/>
              <a:gd name="connsiteX0" fmla="*/ 219 w 7699828"/>
              <a:gd name="connsiteY0" fmla="*/ 3193832 h 5047979"/>
              <a:gd name="connsiteX1" fmla="*/ 3524592 w 7699828"/>
              <a:gd name="connsiteY1" fmla="*/ 1869 h 5047979"/>
              <a:gd name="connsiteX2" fmla="*/ 7699828 w 7699828"/>
              <a:gd name="connsiteY2" fmla="*/ 2805256 h 5047979"/>
              <a:gd name="connsiteX3" fmla="*/ 3679417 w 7699828"/>
              <a:gd name="connsiteY3" fmla="*/ 5045189 h 5047979"/>
              <a:gd name="connsiteX4" fmla="*/ 219 w 7699828"/>
              <a:gd name="connsiteY4" fmla="*/ 3193832 h 5047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99828" h="5047979">
                <a:moveTo>
                  <a:pt x="219" y="3193832"/>
                </a:moveTo>
                <a:cubicBezTo>
                  <a:pt x="-25585" y="2353279"/>
                  <a:pt x="2241324" y="66632"/>
                  <a:pt x="3524592" y="1869"/>
                </a:cubicBezTo>
                <a:cubicBezTo>
                  <a:pt x="4807860" y="-62894"/>
                  <a:pt x="7699828" y="1568175"/>
                  <a:pt x="7699828" y="2805256"/>
                </a:cubicBezTo>
                <a:cubicBezTo>
                  <a:pt x="7699828" y="4042337"/>
                  <a:pt x="4962685" y="4980426"/>
                  <a:pt x="3679417" y="5045189"/>
                </a:cubicBezTo>
                <a:cubicBezTo>
                  <a:pt x="2396149" y="5109952"/>
                  <a:pt x="26023" y="4034385"/>
                  <a:pt x="219" y="3193832"/>
                </a:cubicBezTo>
                <a:close/>
              </a:path>
            </a:pathLst>
          </a:custGeom>
          <a:solidFill>
            <a:srgbClr val="C3B293"/>
          </a:solidFill>
          <a:ln>
            <a:solidFill>
              <a:srgbClr val="C3B2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Блок-схема: узел 12"/>
          <p:cNvSpPr/>
          <p:nvPr/>
        </p:nvSpPr>
        <p:spPr>
          <a:xfrm>
            <a:off x="-1540475" y="-1228891"/>
            <a:ext cx="5427879" cy="4786628"/>
          </a:xfrm>
          <a:custGeom>
            <a:avLst/>
            <a:gdLst>
              <a:gd name="connsiteX0" fmla="*/ 0 w 5245100"/>
              <a:gd name="connsiteY0" fmla="*/ 2406675 h 4813349"/>
              <a:gd name="connsiteX1" fmla="*/ 2622550 w 5245100"/>
              <a:gd name="connsiteY1" fmla="*/ 0 h 4813349"/>
              <a:gd name="connsiteX2" fmla="*/ 5245100 w 5245100"/>
              <a:gd name="connsiteY2" fmla="*/ 2406675 h 4813349"/>
              <a:gd name="connsiteX3" fmla="*/ 2622550 w 5245100"/>
              <a:gd name="connsiteY3" fmla="*/ 4813350 h 4813349"/>
              <a:gd name="connsiteX4" fmla="*/ 0 w 5245100"/>
              <a:gd name="connsiteY4" fmla="*/ 2406675 h 4813349"/>
              <a:gd name="connsiteX0" fmla="*/ 28611 w 5273711"/>
              <a:gd name="connsiteY0" fmla="*/ 2406675 h 4686350"/>
              <a:gd name="connsiteX1" fmla="*/ 2651161 w 5273711"/>
              <a:gd name="connsiteY1" fmla="*/ 0 h 4686350"/>
              <a:gd name="connsiteX2" fmla="*/ 5273711 w 5273711"/>
              <a:gd name="connsiteY2" fmla="*/ 2406675 h 4686350"/>
              <a:gd name="connsiteX3" fmla="*/ 1749461 w 5273711"/>
              <a:gd name="connsiteY3" fmla="*/ 4686350 h 4686350"/>
              <a:gd name="connsiteX4" fmla="*/ 28611 w 5273711"/>
              <a:gd name="connsiteY4" fmla="*/ 2406675 h 4686350"/>
              <a:gd name="connsiteX0" fmla="*/ 28611 w 5427879"/>
              <a:gd name="connsiteY0" fmla="*/ 2506953 h 4786628"/>
              <a:gd name="connsiteX1" fmla="*/ 2651161 w 5427879"/>
              <a:gd name="connsiteY1" fmla="*/ 100278 h 4786628"/>
              <a:gd name="connsiteX2" fmla="*/ 4639275 w 5427879"/>
              <a:gd name="connsiteY2" fmla="*/ 657391 h 4786628"/>
              <a:gd name="connsiteX3" fmla="*/ 5273711 w 5427879"/>
              <a:gd name="connsiteY3" fmla="*/ 2506953 h 4786628"/>
              <a:gd name="connsiteX4" fmla="*/ 1749461 w 5427879"/>
              <a:gd name="connsiteY4" fmla="*/ 4786628 h 4786628"/>
              <a:gd name="connsiteX5" fmla="*/ 28611 w 5427879"/>
              <a:gd name="connsiteY5" fmla="*/ 2506953 h 478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27879" h="4786628">
                <a:moveTo>
                  <a:pt x="28611" y="2506953"/>
                </a:moveTo>
                <a:cubicBezTo>
                  <a:pt x="178894" y="1725895"/>
                  <a:pt x="1882717" y="408538"/>
                  <a:pt x="2651161" y="100278"/>
                </a:cubicBezTo>
                <a:cubicBezTo>
                  <a:pt x="3419605" y="-207982"/>
                  <a:pt x="4202183" y="256279"/>
                  <a:pt x="4639275" y="657391"/>
                </a:cubicBezTo>
                <a:cubicBezTo>
                  <a:pt x="5076367" y="1058504"/>
                  <a:pt x="5727830" y="1837797"/>
                  <a:pt x="5273711" y="2506953"/>
                </a:cubicBezTo>
                <a:cubicBezTo>
                  <a:pt x="4819592" y="3176109"/>
                  <a:pt x="3197855" y="4786628"/>
                  <a:pt x="1749461" y="4786628"/>
                </a:cubicBezTo>
                <a:cubicBezTo>
                  <a:pt x="301067" y="4786628"/>
                  <a:pt x="-121672" y="3288011"/>
                  <a:pt x="28611" y="2506953"/>
                </a:cubicBezTo>
                <a:close/>
              </a:path>
            </a:pathLst>
          </a:custGeom>
          <a:solidFill>
            <a:srgbClr val="A58B60"/>
          </a:solidFill>
          <a:ln>
            <a:solidFill>
              <a:srgbClr val="A58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941302" y="3478"/>
            <a:ext cx="10267378" cy="1713204"/>
          </a:xfrm>
        </p:spPr>
        <p:txBody>
          <a:bodyPr>
            <a:noAutofit/>
          </a:bodyPr>
          <a:lstStyle/>
          <a:p>
            <a:r>
              <a:rPr lang="ru-RU" sz="1400" dirty="0">
                <a:latin typeface="Raleway" pitchFamily="2" charset="-52"/>
                <a:ea typeface="+mj-lt"/>
                <a:cs typeface="+mj-lt"/>
              </a:rPr>
              <a:t>ФЕДЕРАЛЬНОЕ ГОСУДАРСТВЕННОЕ БЮДЖЕТНОЕ ОБРАЗОВАТЕЛЬНОЕ </a:t>
            </a:r>
            <a:br>
              <a:rPr lang="ru-RU" sz="1400" dirty="0">
                <a:latin typeface="Raleway" pitchFamily="2" charset="-52"/>
                <a:ea typeface="+mj-lt"/>
                <a:cs typeface="+mj-lt"/>
              </a:rPr>
            </a:br>
            <a:r>
              <a:rPr lang="ru-RU" sz="1400" dirty="0">
                <a:latin typeface="Raleway" pitchFamily="2" charset="-52"/>
                <a:ea typeface="+mj-lt"/>
                <a:cs typeface="+mj-lt"/>
              </a:rPr>
              <a:t>УЧРЕЖДЕНИЕ ВЫСШЕГО ОБРАЗОВАНИЯ </a:t>
            </a:r>
            <a:br>
              <a:rPr lang="ru-RU" sz="1400" dirty="0">
                <a:latin typeface="Raleway" pitchFamily="2" charset="-52"/>
                <a:ea typeface="+mj-lt"/>
                <a:cs typeface="+mj-lt"/>
              </a:rPr>
            </a:br>
            <a:r>
              <a:rPr lang="ru-RU" sz="1400" dirty="0">
                <a:latin typeface="Raleway" pitchFamily="2" charset="-52"/>
                <a:ea typeface="+mj-lt"/>
                <a:cs typeface="+mj-lt"/>
              </a:rPr>
              <a:t>«САНКТ-ПЕТЕРБУРГСКИЙ ГОСУДАРСТВЕННЫЙ УНИВЕРСИТЕТ </a:t>
            </a:r>
            <a:br>
              <a:rPr lang="ru-RU" sz="1400" dirty="0">
                <a:latin typeface="Raleway" pitchFamily="2" charset="-52"/>
                <a:ea typeface="+mj-lt"/>
                <a:cs typeface="+mj-lt"/>
              </a:rPr>
            </a:br>
            <a:r>
              <a:rPr lang="ru-RU" sz="1400" dirty="0">
                <a:latin typeface="Raleway" pitchFamily="2" charset="-52"/>
                <a:ea typeface="+mj-lt"/>
                <a:cs typeface="+mj-lt"/>
              </a:rPr>
              <a:t>ТЕЛЕКОММУНИКАЦИЙ ИМ. ПРОФ. М.А. БОНЧ-БРУЕВИЧА» </a:t>
            </a:r>
            <a:br>
              <a:rPr lang="ru-RU" sz="1400" dirty="0">
                <a:latin typeface="Raleway" pitchFamily="2" charset="-52"/>
                <a:ea typeface="+mj-lt"/>
                <a:cs typeface="+mj-lt"/>
              </a:rPr>
            </a:br>
            <a:r>
              <a:rPr lang="ru-RU" sz="1400" dirty="0">
                <a:latin typeface="Raleway" pitchFamily="2" charset="-52"/>
                <a:ea typeface="+mj-lt"/>
                <a:cs typeface="+mj-lt"/>
              </a:rPr>
              <a:t>(СПбГУТ) </a:t>
            </a:r>
            <a:br>
              <a:rPr lang="ru-RU" sz="1400" dirty="0">
                <a:latin typeface="Raleway" pitchFamily="2" charset="-52"/>
                <a:ea typeface="+mj-lt"/>
                <a:cs typeface="+mj-lt"/>
              </a:rPr>
            </a:br>
            <a:r>
              <a:rPr lang="ru-RU" sz="1400" dirty="0">
                <a:latin typeface="Raleway" pitchFamily="2" charset="-52"/>
                <a:ea typeface="+mj-lt"/>
                <a:cs typeface="+mj-lt"/>
              </a:rPr>
              <a:t>АРХАНГЕЛЬСКИЙ КОЛЛЕДЖ ТЕЛЕКОММУНИКАЦИЙ </a:t>
            </a:r>
            <a:br>
              <a:rPr lang="ru-RU" sz="1400" dirty="0">
                <a:latin typeface="Raleway" pitchFamily="2" charset="-52"/>
                <a:ea typeface="+mj-lt"/>
                <a:cs typeface="+mj-lt"/>
              </a:rPr>
            </a:br>
            <a:r>
              <a:rPr lang="ru-RU" sz="1400" dirty="0">
                <a:latin typeface="Raleway" pitchFamily="2" charset="-52"/>
                <a:ea typeface="+mj-lt"/>
                <a:cs typeface="+mj-lt"/>
              </a:rPr>
              <a:t>ИМ. Б.Л. РОЗИНГА (ФИЛИАЛ) СПбГУТ </a:t>
            </a:r>
            <a:br>
              <a:rPr lang="ru-RU" sz="1400" dirty="0">
                <a:latin typeface="Raleway" pitchFamily="2" charset="-52"/>
                <a:ea typeface="+mj-lt"/>
                <a:cs typeface="+mj-lt"/>
              </a:rPr>
            </a:br>
            <a:r>
              <a:rPr lang="ru-RU" sz="1400" dirty="0">
                <a:latin typeface="Raleway" pitchFamily="2" charset="-52"/>
                <a:ea typeface="+mj-lt"/>
                <a:cs typeface="+mj-lt"/>
              </a:rPr>
              <a:t>(АКТ (ф) СПбГУТ)</a:t>
            </a:r>
            <a:endParaRPr lang="ru-RU" sz="1400" dirty="0">
              <a:latin typeface="Raleway" pitchFamily="2" charset="-52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671988" y="1675055"/>
            <a:ext cx="8938719" cy="2870558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z="6600" b="1" dirty="0">
                <a:solidFill>
                  <a:srgbClr val="231610"/>
                </a:solidFill>
                <a:latin typeface="Calypso" pitchFamily="2" charset="0"/>
                <a:ea typeface="Cormorant Garamond" pitchFamily="2" charset="-52"/>
                <a:cs typeface="Cormorant Garamond" pitchFamily="2" charset="-52"/>
              </a:rPr>
              <a:t>Разработка подсистемы «Планета 35. Инвентаризация»</a:t>
            </a:r>
            <a:endParaRPr lang="ru-RU" sz="6000" b="1" dirty="0">
              <a:solidFill>
                <a:srgbClr val="231610"/>
              </a:solidFill>
              <a:latin typeface="Calypso" pitchFamily="2" charset="0"/>
              <a:ea typeface="Cormorant Garamond" pitchFamily="2" charset="-52"/>
              <a:cs typeface="Cormorant Garamond" pitchFamily="2" charset="-52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30631-E6E7-904D-1D0B-7EEAFB5309FF}"/>
              </a:ext>
            </a:extLst>
          </p:cNvPr>
          <p:cNvSpPr txBox="1"/>
          <p:nvPr/>
        </p:nvSpPr>
        <p:spPr>
          <a:xfrm>
            <a:off x="5133975" y="6418751"/>
            <a:ext cx="226565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ru-RU" dirty="0">
                <a:latin typeface="Raleway" pitchFamily="2" charset="-52"/>
              </a:rPr>
              <a:t>Архангельск, 2025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F5B606-98CD-6BEC-6C68-E5F3CE925997}"/>
              </a:ext>
            </a:extLst>
          </p:cNvPr>
          <p:cNvSpPr txBox="1"/>
          <p:nvPr/>
        </p:nvSpPr>
        <p:spPr>
          <a:xfrm>
            <a:off x="494176" y="5315341"/>
            <a:ext cx="6478123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ru-RU" dirty="0">
                <a:solidFill>
                  <a:srgbClr val="231610"/>
                </a:solidFill>
                <a:latin typeface="Raleway" pitchFamily="2" charset="-52"/>
                <a:ea typeface="Microsoft YaHei"/>
                <a:cs typeface="Calibri"/>
              </a:rPr>
              <a:t>Студент группы ИСПП-35: </a:t>
            </a:r>
            <a:r>
              <a:rPr lang="ru-RU" dirty="0" err="1">
                <a:solidFill>
                  <a:srgbClr val="231610"/>
                </a:solidFill>
                <a:latin typeface="Raleway" pitchFamily="2" charset="-52"/>
                <a:ea typeface="Microsoft YaHei"/>
                <a:cs typeface="Calibri"/>
              </a:rPr>
              <a:t>Луев</a:t>
            </a:r>
            <a:r>
              <a:rPr lang="ru-RU" dirty="0">
                <a:solidFill>
                  <a:srgbClr val="231610"/>
                </a:solidFill>
                <a:latin typeface="Raleway" pitchFamily="2" charset="-52"/>
                <a:ea typeface="Microsoft YaHei"/>
                <a:cs typeface="Calibri"/>
              </a:rPr>
              <a:t> Роман Викторович</a:t>
            </a:r>
          </a:p>
          <a:p>
            <a:r>
              <a:rPr lang="ru-RU" dirty="0">
                <a:solidFill>
                  <a:srgbClr val="231610"/>
                </a:solidFill>
                <a:latin typeface="Raleway" pitchFamily="2" charset="-52"/>
                <a:ea typeface="Microsoft YaHei"/>
                <a:cs typeface="Calibri"/>
              </a:rPr>
              <a:t>Руководитель: Маломан Юлия Сергеевна</a:t>
            </a:r>
          </a:p>
        </p:txBody>
      </p:sp>
      <p:sp>
        <p:nvSpPr>
          <p:cNvPr id="14" name="Половина рамки 13">
            <a:extLst>
              <a:ext uri="{FF2B5EF4-FFF2-40B4-BE49-F238E27FC236}">
                <a16:creationId xmlns:a16="http://schemas.microsoft.com/office/drawing/2014/main" id="{052FC485-C8C5-89C1-D34E-771C3E7E9208}"/>
              </a:ext>
            </a:extLst>
          </p:cNvPr>
          <p:cNvSpPr/>
          <p:nvPr/>
        </p:nvSpPr>
        <p:spPr>
          <a:xfrm>
            <a:off x="941302" y="1665792"/>
            <a:ext cx="803753" cy="730684"/>
          </a:xfrm>
          <a:prstGeom prst="halfFrame">
            <a:avLst/>
          </a:prstGeom>
          <a:solidFill>
            <a:srgbClr val="552A0B"/>
          </a:solidFill>
          <a:ln>
            <a:solidFill>
              <a:srgbClr val="552A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7" name="Половина рамки 16">
            <a:extLst>
              <a:ext uri="{FF2B5EF4-FFF2-40B4-BE49-F238E27FC236}">
                <a16:creationId xmlns:a16="http://schemas.microsoft.com/office/drawing/2014/main" id="{5234CC97-1B78-07A8-9C70-1ED2221DA82D}"/>
              </a:ext>
            </a:extLst>
          </p:cNvPr>
          <p:cNvSpPr/>
          <p:nvPr/>
        </p:nvSpPr>
        <p:spPr>
          <a:xfrm rot="5400000">
            <a:off x="10404926" y="1686408"/>
            <a:ext cx="803753" cy="730684"/>
          </a:xfrm>
          <a:prstGeom prst="halfFrame">
            <a:avLst>
              <a:gd name="adj1" fmla="val 26380"/>
              <a:gd name="adj2" fmla="val 25222"/>
            </a:avLst>
          </a:prstGeom>
          <a:solidFill>
            <a:srgbClr val="552A0B"/>
          </a:solidFill>
          <a:ln>
            <a:solidFill>
              <a:srgbClr val="552A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8" name="Половина рамки 17">
            <a:extLst>
              <a:ext uri="{FF2B5EF4-FFF2-40B4-BE49-F238E27FC236}">
                <a16:creationId xmlns:a16="http://schemas.microsoft.com/office/drawing/2014/main" id="{A8B05221-E8F6-62A1-76DE-D457401334AF}"/>
              </a:ext>
            </a:extLst>
          </p:cNvPr>
          <p:cNvSpPr/>
          <p:nvPr/>
        </p:nvSpPr>
        <p:spPr>
          <a:xfrm rot="16200000">
            <a:off x="904769" y="3682264"/>
            <a:ext cx="803753" cy="730684"/>
          </a:xfrm>
          <a:prstGeom prst="halfFrame">
            <a:avLst/>
          </a:prstGeom>
          <a:solidFill>
            <a:srgbClr val="552A0B"/>
          </a:solidFill>
          <a:ln>
            <a:solidFill>
              <a:srgbClr val="552A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  <p:sp>
        <p:nvSpPr>
          <p:cNvPr id="19" name="Половина рамки 18">
            <a:extLst>
              <a:ext uri="{FF2B5EF4-FFF2-40B4-BE49-F238E27FC236}">
                <a16:creationId xmlns:a16="http://schemas.microsoft.com/office/drawing/2014/main" id="{99AF8F7C-814E-29BF-4371-AEA6B20B9D8F}"/>
              </a:ext>
            </a:extLst>
          </p:cNvPr>
          <p:cNvSpPr/>
          <p:nvPr/>
        </p:nvSpPr>
        <p:spPr>
          <a:xfrm rot="10800000">
            <a:off x="10404927" y="4018765"/>
            <a:ext cx="803753" cy="730684"/>
          </a:xfrm>
          <a:prstGeom prst="halfFrame">
            <a:avLst/>
          </a:prstGeom>
          <a:solidFill>
            <a:srgbClr val="552A0B"/>
          </a:solidFill>
          <a:ln>
            <a:solidFill>
              <a:srgbClr val="552A0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A58B6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863C76-D643-1B8D-AC30-2316DB36B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Овал 23"/>
          <p:cNvSpPr/>
          <p:nvPr/>
        </p:nvSpPr>
        <p:spPr>
          <a:xfrm rot="996593">
            <a:off x="-2119729" y="-1910343"/>
            <a:ext cx="4767868" cy="4436180"/>
          </a:xfrm>
          <a:custGeom>
            <a:avLst/>
            <a:gdLst>
              <a:gd name="connsiteX0" fmla="*/ 0 w 4672499"/>
              <a:gd name="connsiteY0" fmla="*/ 2083433 h 4166866"/>
              <a:gd name="connsiteX1" fmla="*/ 2336250 w 4672499"/>
              <a:gd name="connsiteY1" fmla="*/ 0 h 4166866"/>
              <a:gd name="connsiteX2" fmla="*/ 4672500 w 4672499"/>
              <a:gd name="connsiteY2" fmla="*/ 2083433 h 4166866"/>
              <a:gd name="connsiteX3" fmla="*/ 2336250 w 4672499"/>
              <a:gd name="connsiteY3" fmla="*/ 4166866 h 4166866"/>
              <a:gd name="connsiteX4" fmla="*/ 0 w 4672499"/>
              <a:gd name="connsiteY4" fmla="*/ 2083433 h 4166866"/>
              <a:gd name="connsiteX0" fmla="*/ 11873 w 4684373"/>
              <a:gd name="connsiteY0" fmla="*/ 2083433 h 4400694"/>
              <a:gd name="connsiteX1" fmla="*/ 2348123 w 4684373"/>
              <a:gd name="connsiteY1" fmla="*/ 0 h 4400694"/>
              <a:gd name="connsiteX2" fmla="*/ 4684373 w 4684373"/>
              <a:gd name="connsiteY2" fmla="*/ 2083433 h 4400694"/>
              <a:gd name="connsiteX3" fmla="*/ 1741971 w 4684373"/>
              <a:gd name="connsiteY3" fmla="*/ 4400694 h 4400694"/>
              <a:gd name="connsiteX4" fmla="*/ 11873 w 4684373"/>
              <a:gd name="connsiteY4" fmla="*/ 2083433 h 4400694"/>
              <a:gd name="connsiteX0" fmla="*/ 6124 w 4767868"/>
              <a:gd name="connsiteY0" fmla="*/ 2083433 h 4436180"/>
              <a:gd name="connsiteX1" fmla="*/ 2342374 w 4767868"/>
              <a:gd name="connsiteY1" fmla="*/ 0 h 4436180"/>
              <a:gd name="connsiteX2" fmla="*/ 4678624 w 4767868"/>
              <a:gd name="connsiteY2" fmla="*/ 2083433 h 4436180"/>
              <a:gd name="connsiteX3" fmla="*/ 3953248 w 4767868"/>
              <a:gd name="connsiteY3" fmla="*/ 3391001 h 4436180"/>
              <a:gd name="connsiteX4" fmla="*/ 1736222 w 4767868"/>
              <a:gd name="connsiteY4" fmla="*/ 4400694 h 4436180"/>
              <a:gd name="connsiteX5" fmla="*/ 6124 w 4767868"/>
              <a:gd name="connsiteY5" fmla="*/ 2083433 h 44361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7868" h="4436180">
                <a:moveTo>
                  <a:pt x="6124" y="2083433"/>
                </a:moveTo>
                <a:cubicBezTo>
                  <a:pt x="107149" y="1349984"/>
                  <a:pt x="1052099" y="0"/>
                  <a:pt x="2342374" y="0"/>
                </a:cubicBezTo>
                <a:cubicBezTo>
                  <a:pt x="3632649" y="0"/>
                  <a:pt x="4372390" y="1547199"/>
                  <a:pt x="4678624" y="2083433"/>
                </a:cubicBezTo>
                <a:cubicBezTo>
                  <a:pt x="4984858" y="2619667"/>
                  <a:pt x="4443648" y="3004791"/>
                  <a:pt x="3953248" y="3391001"/>
                </a:cubicBezTo>
                <a:cubicBezTo>
                  <a:pt x="3462848" y="3777211"/>
                  <a:pt x="2394076" y="4618622"/>
                  <a:pt x="1736222" y="4400694"/>
                </a:cubicBezTo>
                <a:cubicBezTo>
                  <a:pt x="1078368" y="4182766"/>
                  <a:pt x="-94901" y="2816882"/>
                  <a:pt x="6124" y="2083433"/>
                </a:cubicBezTo>
                <a:close/>
              </a:path>
            </a:pathLst>
          </a:custGeom>
          <a:solidFill>
            <a:srgbClr val="A58B60"/>
          </a:solidFill>
          <a:ln>
            <a:solidFill>
              <a:srgbClr val="552A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Овал 21"/>
          <p:cNvSpPr/>
          <p:nvPr/>
        </p:nvSpPr>
        <p:spPr>
          <a:xfrm rot="996593">
            <a:off x="6454398" y="-1643033"/>
            <a:ext cx="8040821" cy="4479866"/>
          </a:xfrm>
          <a:prstGeom prst="ellipse">
            <a:avLst/>
          </a:prstGeom>
          <a:solidFill>
            <a:srgbClr val="C3B293"/>
          </a:solidFill>
          <a:ln>
            <a:solidFill>
              <a:srgbClr val="C3B29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Блок-схема: узел 20"/>
          <p:cNvSpPr/>
          <p:nvPr/>
        </p:nvSpPr>
        <p:spPr>
          <a:xfrm>
            <a:off x="430316" y="1270000"/>
            <a:ext cx="1511300" cy="1371600"/>
          </a:xfrm>
          <a:prstGeom prst="flowChartConnector">
            <a:avLst/>
          </a:prstGeom>
          <a:solidFill>
            <a:srgbClr val="C3B293"/>
          </a:solidFill>
          <a:ln>
            <a:solidFill>
              <a:srgbClr val="A58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01027-141C-E69C-1419-71B36ED1DDB9}"/>
              </a:ext>
            </a:extLst>
          </p:cNvPr>
          <p:cNvSpPr txBox="1"/>
          <p:nvPr/>
        </p:nvSpPr>
        <p:spPr>
          <a:xfrm>
            <a:off x="3998107" y="12700"/>
            <a:ext cx="396751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ru-RU" sz="4000" dirty="0">
                <a:solidFill>
                  <a:srgbClr val="231610"/>
                </a:solidFill>
                <a:latin typeface="Calypso" pitchFamily="2" charset="0"/>
                <a:cs typeface="Noto Naskh Arabic" panose="020B0502040504020204" pitchFamily="34" charset="-78"/>
              </a:rPr>
              <a:t>Актуальность</a:t>
            </a:r>
          </a:p>
        </p:txBody>
      </p:sp>
      <p:pic>
        <p:nvPicPr>
          <p:cNvPr id="19" name="Рисунок 1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916" y="1428750"/>
            <a:ext cx="1054100" cy="1054100"/>
          </a:xfrm>
          <a:prstGeom prst="rect">
            <a:avLst/>
          </a:prstGeom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</p:pic>
      <p:sp>
        <p:nvSpPr>
          <p:cNvPr id="20" name="Прямоугольник 19"/>
          <p:cNvSpPr/>
          <p:nvPr/>
        </p:nvSpPr>
        <p:spPr>
          <a:xfrm>
            <a:off x="1941616" y="1478746"/>
            <a:ext cx="412898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>
                <a:solidFill>
                  <a:srgbClr val="231610"/>
                </a:solidFill>
                <a:latin typeface="Raleway" pitchFamily="2" charset="-52"/>
                <a:ea typeface="Times New Roman" panose="02020603050405020304" pitchFamily="18" charset="0"/>
              </a:rPr>
              <a:t>Автоматизации </a:t>
            </a:r>
            <a:r>
              <a:rPr lang="ru-RU" sz="2800" dirty="0">
                <a:solidFill>
                  <a:srgbClr val="231610"/>
                </a:solidFill>
                <a:latin typeface="Raleway" pitchFamily="2" charset="-52"/>
                <a:ea typeface="Times New Roman" panose="02020603050405020304" pitchFamily="18" charset="0"/>
              </a:rPr>
              <a:t>процесса учёта</a:t>
            </a:r>
            <a:endParaRPr lang="ru-RU" sz="2800" dirty="0">
              <a:solidFill>
                <a:srgbClr val="231610"/>
              </a:solidFill>
              <a:latin typeface="Raleway" pitchFamily="2" charset="-52"/>
            </a:endParaRPr>
          </a:p>
        </p:txBody>
      </p:sp>
      <p:sp>
        <p:nvSpPr>
          <p:cNvPr id="23" name="Овал 22"/>
          <p:cNvSpPr/>
          <p:nvPr/>
        </p:nvSpPr>
        <p:spPr>
          <a:xfrm rot="480178">
            <a:off x="-4078951" y="4342700"/>
            <a:ext cx="8157900" cy="4479866"/>
          </a:xfrm>
          <a:prstGeom prst="ellipse">
            <a:avLst/>
          </a:prstGeom>
          <a:solidFill>
            <a:srgbClr val="C7C096"/>
          </a:solidFill>
          <a:ln>
            <a:solidFill>
              <a:srgbClr val="C7C09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Овал 24"/>
          <p:cNvSpPr/>
          <p:nvPr/>
        </p:nvSpPr>
        <p:spPr>
          <a:xfrm rot="996593">
            <a:off x="-1834828" y="5075075"/>
            <a:ext cx="5211483" cy="3143623"/>
          </a:xfrm>
          <a:custGeom>
            <a:avLst/>
            <a:gdLst>
              <a:gd name="connsiteX0" fmla="*/ 0 w 8040821"/>
              <a:gd name="connsiteY0" fmla="*/ 2239933 h 4479866"/>
              <a:gd name="connsiteX1" fmla="*/ 4020411 w 8040821"/>
              <a:gd name="connsiteY1" fmla="*/ 0 h 4479866"/>
              <a:gd name="connsiteX2" fmla="*/ 8040822 w 8040821"/>
              <a:gd name="connsiteY2" fmla="*/ 2239933 h 4479866"/>
              <a:gd name="connsiteX3" fmla="*/ 4020411 w 8040821"/>
              <a:gd name="connsiteY3" fmla="*/ 4479866 h 4479866"/>
              <a:gd name="connsiteX4" fmla="*/ 0 w 8040821"/>
              <a:gd name="connsiteY4" fmla="*/ 2239933 h 4479866"/>
              <a:gd name="connsiteX0" fmla="*/ 57806 w 8098628"/>
              <a:gd name="connsiteY0" fmla="*/ 2314908 h 4554841"/>
              <a:gd name="connsiteX1" fmla="*/ 1858640 w 8098628"/>
              <a:gd name="connsiteY1" fmla="*/ 695772 h 4554841"/>
              <a:gd name="connsiteX2" fmla="*/ 4078217 w 8098628"/>
              <a:gd name="connsiteY2" fmla="*/ 74975 h 4554841"/>
              <a:gd name="connsiteX3" fmla="*/ 8098628 w 8098628"/>
              <a:gd name="connsiteY3" fmla="*/ 2314908 h 4554841"/>
              <a:gd name="connsiteX4" fmla="*/ 4078217 w 8098628"/>
              <a:gd name="connsiteY4" fmla="*/ 4554841 h 4554841"/>
              <a:gd name="connsiteX5" fmla="*/ 57806 w 8098628"/>
              <a:gd name="connsiteY5" fmla="*/ 2314908 h 4554841"/>
              <a:gd name="connsiteX0" fmla="*/ 57806 w 8126889"/>
              <a:gd name="connsiteY0" fmla="*/ 2295984 h 4535917"/>
              <a:gd name="connsiteX1" fmla="*/ 1858640 w 8126889"/>
              <a:gd name="connsiteY1" fmla="*/ 676848 h 4535917"/>
              <a:gd name="connsiteX2" fmla="*/ 4078217 w 8126889"/>
              <a:gd name="connsiteY2" fmla="*/ 56051 h 4535917"/>
              <a:gd name="connsiteX3" fmla="*/ 5889323 w 8126889"/>
              <a:gd name="connsiteY3" fmla="*/ 282925 h 4535917"/>
              <a:gd name="connsiteX4" fmla="*/ 8098628 w 8126889"/>
              <a:gd name="connsiteY4" fmla="*/ 2295984 h 4535917"/>
              <a:gd name="connsiteX5" fmla="*/ 4078217 w 8126889"/>
              <a:gd name="connsiteY5" fmla="*/ 4535917 h 4535917"/>
              <a:gd name="connsiteX6" fmla="*/ 57806 w 8126889"/>
              <a:gd name="connsiteY6" fmla="*/ 2295984 h 4535917"/>
              <a:gd name="connsiteX0" fmla="*/ 57806 w 8232629"/>
              <a:gd name="connsiteY0" fmla="*/ 2269989 h 4509922"/>
              <a:gd name="connsiteX1" fmla="*/ 1858640 w 8232629"/>
              <a:gd name="connsiteY1" fmla="*/ 650853 h 4509922"/>
              <a:gd name="connsiteX2" fmla="*/ 4078217 w 8232629"/>
              <a:gd name="connsiteY2" fmla="*/ 30056 h 4509922"/>
              <a:gd name="connsiteX3" fmla="*/ 5889323 w 8232629"/>
              <a:gd name="connsiteY3" fmla="*/ 256930 h 4509922"/>
              <a:gd name="connsiteX4" fmla="*/ 6547450 w 8232629"/>
              <a:gd name="connsiteY4" fmla="*/ 1796755 h 4509922"/>
              <a:gd name="connsiteX5" fmla="*/ 8098628 w 8232629"/>
              <a:gd name="connsiteY5" fmla="*/ 2269989 h 4509922"/>
              <a:gd name="connsiteX6" fmla="*/ 4078217 w 8232629"/>
              <a:gd name="connsiteY6" fmla="*/ 4509922 h 4509922"/>
              <a:gd name="connsiteX7" fmla="*/ 57806 w 8232629"/>
              <a:gd name="connsiteY7" fmla="*/ 2269989 h 4509922"/>
              <a:gd name="connsiteX0" fmla="*/ 57806 w 6591355"/>
              <a:gd name="connsiteY0" fmla="*/ 2269989 h 4514189"/>
              <a:gd name="connsiteX1" fmla="*/ 1858640 w 6591355"/>
              <a:gd name="connsiteY1" fmla="*/ 650853 h 4514189"/>
              <a:gd name="connsiteX2" fmla="*/ 4078217 w 6591355"/>
              <a:gd name="connsiteY2" fmla="*/ 30056 h 4514189"/>
              <a:gd name="connsiteX3" fmla="*/ 5889323 w 6591355"/>
              <a:gd name="connsiteY3" fmla="*/ 256930 h 4514189"/>
              <a:gd name="connsiteX4" fmla="*/ 6547450 w 6591355"/>
              <a:gd name="connsiteY4" fmla="*/ 1796755 h 4514189"/>
              <a:gd name="connsiteX5" fmla="*/ 4228300 w 6591355"/>
              <a:gd name="connsiteY5" fmla="*/ 2801619 h 4514189"/>
              <a:gd name="connsiteX6" fmla="*/ 4078217 w 6591355"/>
              <a:gd name="connsiteY6" fmla="*/ 4509922 h 4514189"/>
              <a:gd name="connsiteX7" fmla="*/ 57806 w 6591355"/>
              <a:gd name="connsiteY7" fmla="*/ 2269989 h 4514189"/>
              <a:gd name="connsiteX0" fmla="*/ 11729 w 6545278"/>
              <a:gd name="connsiteY0" fmla="*/ 2269989 h 2999237"/>
              <a:gd name="connsiteX1" fmla="*/ 1812563 w 6545278"/>
              <a:gd name="connsiteY1" fmla="*/ 650853 h 2999237"/>
              <a:gd name="connsiteX2" fmla="*/ 4032140 w 6545278"/>
              <a:gd name="connsiteY2" fmla="*/ 30056 h 2999237"/>
              <a:gd name="connsiteX3" fmla="*/ 5843246 w 6545278"/>
              <a:gd name="connsiteY3" fmla="*/ 256930 h 2999237"/>
              <a:gd name="connsiteX4" fmla="*/ 6501373 w 6545278"/>
              <a:gd name="connsiteY4" fmla="*/ 1796755 h 2999237"/>
              <a:gd name="connsiteX5" fmla="*/ 4182223 w 6545278"/>
              <a:gd name="connsiteY5" fmla="*/ 2801619 h 2999237"/>
              <a:gd name="connsiteX6" fmla="*/ 2696948 w 6545278"/>
              <a:gd name="connsiteY6" fmla="*/ 2655201 h 2999237"/>
              <a:gd name="connsiteX7" fmla="*/ 11729 w 6545278"/>
              <a:gd name="connsiteY7" fmla="*/ 2269989 h 2999237"/>
              <a:gd name="connsiteX0" fmla="*/ 140035 w 5211483"/>
              <a:gd name="connsiteY0" fmla="*/ 1529024 h 3024991"/>
              <a:gd name="connsiteX1" fmla="*/ 478768 w 5211483"/>
              <a:gd name="connsiteY1" fmla="*/ 650853 h 3024991"/>
              <a:gd name="connsiteX2" fmla="*/ 2698345 w 5211483"/>
              <a:gd name="connsiteY2" fmla="*/ 30056 h 3024991"/>
              <a:gd name="connsiteX3" fmla="*/ 4509451 w 5211483"/>
              <a:gd name="connsiteY3" fmla="*/ 256930 h 3024991"/>
              <a:gd name="connsiteX4" fmla="*/ 5167578 w 5211483"/>
              <a:gd name="connsiteY4" fmla="*/ 1796755 h 3024991"/>
              <a:gd name="connsiteX5" fmla="*/ 2848428 w 5211483"/>
              <a:gd name="connsiteY5" fmla="*/ 2801619 h 3024991"/>
              <a:gd name="connsiteX6" fmla="*/ 1363153 w 5211483"/>
              <a:gd name="connsiteY6" fmla="*/ 2655201 h 3024991"/>
              <a:gd name="connsiteX7" fmla="*/ 140035 w 5211483"/>
              <a:gd name="connsiteY7" fmla="*/ 1529024 h 3024991"/>
              <a:gd name="connsiteX0" fmla="*/ 140035 w 5211483"/>
              <a:gd name="connsiteY0" fmla="*/ 1647656 h 3143623"/>
              <a:gd name="connsiteX1" fmla="*/ 478768 w 5211483"/>
              <a:gd name="connsiteY1" fmla="*/ 769485 h 3143623"/>
              <a:gd name="connsiteX2" fmla="*/ 2525819 w 5211483"/>
              <a:gd name="connsiteY2" fmla="*/ 14610 h 3143623"/>
              <a:gd name="connsiteX3" fmla="*/ 4509451 w 5211483"/>
              <a:gd name="connsiteY3" fmla="*/ 375562 h 3143623"/>
              <a:gd name="connsiteX4" fmla="*/ 5167578 w 5211483"/>
              <a:gd name="connsiteY4" fmla="*/ 1915387 h 3143623"/>
              <a:gd name="connsiteX5" fmla="*/ 2848428 w 5211483"/>
              <a:gd name="connsiteY5" fmla="*/ 2920251 h 3143623"/>
              <a:gd name="connsiteX6" fmla="*/ 1363153 w 5211483"/>
              <a:gd name="connsiteY6" fmla="*/ 2773833 h 3143623"/>
              <a:gd name="connsiteX7" fmla="*/ 140035 w 5211483"/>
              <a:gd name="connsiteY7" fmla="*/ 1647656 h 3143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211483" h="3143623">
                <a:moveTo>
                  <a:pt x="140035" y="1647656"/>
                </a:moveTo>
                <a:cubicBezTo>
                  <a:pt x="-7363" y="1313598"/>
                  <a:pt x="-191301" y="1142807"/>
                  <a:pt x="478768" y="769485"/>
                </a:cubicBezTo>
                <a:cubicBezTo>
                  <a:pt x="1148837" y="396163"/>
                  <a:pt x="1854039" y="80264"/>
                  <a:pt x="2525819" y="14610"/>
                </a:cubicBezTo>
                <a:cubicBezTo>
                  <a:pt x="3197600" y="-51044"/>
                  <a:pt x="3872622" y="110766"/>
                  <a:pt x="4509451" y="375562"/>
                </a:cubicBezTo>
                <a:cubicBezTo>
                  <a:pt x="5146280" y="640358"/>
                  <a:pt x="4799361" y="1579877"/>
                  <a:pt x="5167578" y="1915387"/>
                </a:cubicBezTo>
                <a:cubicBezTo>
                  <a:pt x="5535795" y="2250897"/>
                  <a:pt x="3485257" y="2438402"/>
                  <a:pt x="2848428" y="2920251"/>
                </a:cubicBezTo>
                <a:cubicBezTo>
                  <a:pt x="2211599" y="3402100"/>
                  <a:pt x="1814552" y="2985932"/>
                  <a:pt x="1363153" y="2773833"/>
                </a:cubicBezTo>
                <a:cubicBezTo>
                  <a:pt x="911754" y="2561734"/>
                  <a:pt x="287433" y="1981714"/>
                  <a:pt x="140035" y="1647656"/>
                </a:cubicBezTo>
                <a:close/>
              </a:path>
            </a:pathLst>
          </a:custGeom>
          <a:solidFill>
            <a:srgbClr val="C7C096"/>
          </a:solidFill>
          <a:ln>
            <a:solidFill>
              <a:srgbClr val="A58B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2340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3B29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43C880F-99B7-2987-C6C5-C7D79FBBF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s://i.pinimg.com/736x/20/29/21/2029213676f2070e3d671564a7bf5b3c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5965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252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C43055-8C26-7E2C-518D-3E7D0CAF5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6A723C8-5C28-D277-B737-D2D2B430B9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F3DC758-025D-E74E-AC4C-332F822B92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1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9772F-038C-F224-B169-46C65A3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98E3F5-2C69-5A09-1414-7BBAF41433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7AB41F-5DC1-31CF-1F52-0179194DC0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8728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764CD-549E-C57E-F334-C2CB9D20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699E6-D20F-0573-15D1-93F4D233F5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38347CD-D5CF-7015-1A9B-671B9459C9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4170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EC0E4-735E-F790-468E-244CFC9C9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0D2A12-3F1C-06BE-8AE9-6D82E770E0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A5B286-671C-5286-AD6C-CFFFC11BF6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096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6F5BB-D243-0987-ADA8-268082F70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D0F119-3C1E-E57D-33A7-457EF5AB87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65C8D59-946E-42E6-6C08-447B520639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400197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31</Words>
  <Application>Microsoft Office PowerPoint</Application>
  <PresentationFormat>Широкоэкранный</PresentationFormat>
  <Paragraphs>7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9" baseType="lpstr">
      <vt:lpstr>Microsoft YaHei</vt:lpstr>
      <vt:lpstr>Aptos</vt:lpstr>
      <vt:lpstr>Aptos Display</vt:lpstr>
      <vt:lpstr>Arial</vt:lpstr>
      <vt:lpstr>Calibri</vt:lpstr>
      <vt:lpstr>Calypso</vt:lpstr>
      <vt:lpstr>Cormorant Garamond</vt:lpstr>
      <vt:lpstr>Noto Naskh Arabic</vt:lpstr>
      <vt:lpstr>Raleway</vt:lpstr>
      <vt:lpstr>Times New Roman</vt:lpstr>
      <vt:lpstr>Тема Office</vt:lpstr>
      <vt:lpstr>ФЕДЕРАЛЬНОЕ ГОСУДАРСТВЕННОЕ БЮДЖЕТНОЕ ОБРАЗОВАТЕЛЬНОЕ  УЧРЕЖДЕНИЕ ВЫСШЕГО ОБРАЗОВАНИЯ  «САНКТ-ПЕТЕРБУРГСКИЙ ГОСУДАРСТВЕННЫЙ УНИВЕРСИТЕТ  ТЕЛЕКОММУНИКАЦИЙ ИМ. ПРОФ. М.А. БОНЧ-БРУЕВИЧА»  (СПбГУТ)  АРХАНГЕЛЬСКИЙ КОЛЛЕДЖ ТЕЛЕКОММУНИКАЦИЙ  ИМ. Б.Л. РОЗИНГА (ФИЛИАЛ) СПбГУТ  (АКТ (ф) СПбГУТ)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ФЕДЕРАЛЬНОЕ ГОСУДАРСТВЕННОЕ БЮДЖЕТНОЕ ОБРАЗОВАТЕЛЬНОЕ  УЧРЕЖДЕНИЕ ВЫСШЕГО ОБРАЗОВАНИЯ  «САНКТ-ПЕТЕРБУРГСКИЙ ГОСУДАРСТВЕННЫЙ УНИВЕРСИТЕТ  ТЕЛЕКОММУНИКАЦИЙ ИМ. ПРОФ. М.А. БОНЧ-БРУЕВИЧА»  (СПбГУТ)  АРХАНГЕЛЬСКИЙ КОЛЛЕДЖ ТЕЛЕКОММУНИКАЦИЙ  ИМ. Б.Л. РОЗИНГА (ФИЛИАЛ) СПбГУТ  (АКТ (ф) СПбГУТ)</dc:title>
  <dc:creator/>
  <cp:lastModifiedBy>0109-10</cp:lastModifiedBy>
  <cp:revision>212</cp:revision>
  <dcterms:created xsi:type="dcterms:W3CDTF">2025-11-26T05:58:57Z</dcterms:created>
  <dcterms:modified xsi:type="dcterms:W3CDTF">2025-11-26T12:59:30Z</dcterms:modified>
</cp:coreProperties>
</file>